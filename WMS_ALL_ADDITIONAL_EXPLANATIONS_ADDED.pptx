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presProps" Target="presProp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viewProps" Target="viewProps.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 Type="http://schemas.openxmlformats.org/officeDocument/2006/relationships/theme" Target="theme/theme1.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85bf880-8319-4e80-90e7-759520b4bca5.png"/>
          <p:cNvPicPr>
            <a:picLocks noChangeAspect="1"/>
          </p:cNvPicPr>
          <p:nvPr/>
        </p:nvPicPr>
        <p:blipFill>
          <a:blip r:embed="rId2"/>
          <a:stretch>
            <a:fillRect/>
          </a:stretch>
        </p:blipFill>
        <p:spPr>
          <a:xfrm>
            <a:off x="2743200" y="274320"/>
            <a:ext cx="2743200" cy="2194560"/>
          </a:xfrm>
          <a:prstGeom prst="rect">
            <a:avLst/>
          </a:prstGeom>
        </p:spPr>
      </p:pic>
      <p:sp>
        <p:nvSpPr>
          <p:cNvPr id="3" name="TextBox 2"/>
          <p:cNvSpPr txBox="1"/>
          <p:nvPr/>
        </p:nvSpPr>
        <p:spPr>
          <a:xfrm>
            <a:off x="457200" y="2286000"/>
            <a:ext cx="8229600" cy="1097280"/>
          </a:xfrm>
          <a:prstGeom prst="rect">
            <a:avLst/>
          </a:prstGeom>
          <a:noFill/>
        </p:spPr>
        <p:txBody>
          <a:bodyPr wrap="none">
            <a:spAutoFit/>
          </a:bodyPr>
          <a:lstStyle/>
          <a:p>
            <a:pPr>
              <a:defRPr sz="3800" b="1"/>
            </a:pPr>
            <a:r>
              <a:t>WAREHOUSE MANAGEMENT SYSTEM</a:t>
            </a:r>
          </a:p>
        </p:txBody>
      </p:sp>
      <p:sp>
        <p:nvSpPr>
          <p:cNvPr id="4" name="TextBox 3"/>
          <p:cNvSpPr txBox="1"/>
          <p:nvPr/>
        </p:nvSpPr>
        <p:spPr>
          <a:xfrm>
            <a:off x="457200" y="3017520"/>
            <a:ext cx="8229600" cy="1371600"/>
          </a:xfrm>
          <a:prstGeom prst="rect">
            <a:avLst/>
          </a:prstGeom>
          <a:noFill/>
        </p:spPr>
        <p:txBody>
          <a:bodyPr wrap="none">
            <a:spAutoFit/>
          </a:bodyPr>
          <a:lstStyle/>
          <a:p>
            <a:pPr>
              <a:defRPr sz="1800"/>
            </a:pPr>
            <a:r>
              <a:t>A Project Report Submitted in Partial Fulfillment of the Requirements for the Award of the Degree</a:t>
            </a:r>
          </a:p>
          <a:p>
            <a:pPr>
              <a:defRPr sz="1800"/>
            </a:pPr>
            <a:r>
              <a:t>of Bachelor of Technology (B.Tech.) in Computer Science &amp; Engineering</a:t>
            </a:r>
          </a:p>
        </p:txBody>
      </p:sp>
      <p:sp>
        <p:nvSpPr>
          <p:cNvPr id="5" name="TextBox 4"/>
          <p:cNvSpPr txBox="1"/>
          <p:nvPr/>
        </p:nvSpPr>
        <p:spPr>
          <a:xfrm>
            <a:off x="457200" y="4206240"/>
            <a:ext cx="8229600" cy="2560320"/>
          </a:xfrm>
          <a:prstGeom prst="rect">
            <a:avLst/>
          </a:prstGeom>
          <a:noFill/>
        </p:spPr>
        <p:txBody>
          <a:bodyPr wrap="none">
            <a:spAutoFit/>
          </a:bodyPr>
          <a:lstStyle/>
          <a:p>
            <a:pPr>
              <a:defRPr sz="1800"/>
            </a:pPr>
            <a:r>
              <a:t>Submitted by:</a:t>
            </a:r>
          </a:p>
          <a:p>
            <a:pPr>
              <a:defRPr sz="1800"/>
            </a:pPr>
            <a:r>
              <a:t>IMRAN AHMAD – Roll No: 0116CS221028</a:t>
            </a:r>
          </a:p>
          <a:p>
            <a:pPr>
              <a:defRPr sz="1800"/>
            </a:pPr>
            <a:r>
              <a:t>MD KAIF – Roll No: 0116CS221040</a:t>
            </a:r>
          </a:p>
          <a:p>
            <a:pPr>
              <a:defRPr sz="1800"/>
            </a:pPr>
          </a:p>
          <a:p>
            <a:pPr>
              <a:defRPr sz="1800"/>
            </a:pPr>
            <a:r>
              <a:t>Under the Guidance of:</a:t>
            </a:r>
          </a:p>
          <a:p>
            <a:pPr>
              <a:defRPr sz="1800"/>
            </a:pPr>
            <a:r>
              <a:t>Mr. Nishant Singh, Assistant Professor, CSE Department</a:t>
            </a:r>
          </a:p>
          <a:p>
            <a:pPr>
              <a:defRPr sz="1800"/>
            </a:pPr>
          </a:p>
          <a:p>
            <a:pPr>
              <a:defRPr sz="1800"/>
            </a:pPr>
            <a:r>
              <a:t>Head of Department:</a:t>
            </a:r>
          </a:p>
          <a:p>
            <a:pPr>
              <a:defRPr sz="1800"/>
            </a:pPr>
            <a:r>
              <a:t>Mr. Vipin Verma</a:t>
            </a:r>
          </a:p>
          <a:p>
            <a:pPr>
              <a:defRPr sz="1800"/>
            </a:pPr>
            <a:r>
              <a:t>All Saints’ College of Technology, Bhopal</a:t>
            </a:r>
          </a:p>
          <a:p>
            <a:pPr>
              <a:defRPr sz="1800"/>
            </a:pPr>
          </a:p>
          <a:p>
            <a:pPr>
              <a:defRPr sz="1800"/>
            </a:pPr>
            <a:r>
              <a:t>Affiliated to Rajiv Gandhi Proudyogiki Vishwavidyalaya (RGPV)</a:t>
            </a:r>
          </a:p>
          <a:p>
            <a:pPr>
              <a:defRPr sz="1800"/>
            </a:pPr>
            <a:r>
              <a:t>Academic Year: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CERTIFICATE</a:t>
            </a:r>
          </a:p>
        </p:txBody>
      </p:sp>
      <p:sp>
        <p:nvSpPr>
          <p:cNvPr id="3" name="Content Placeholder 2"/>
          <p:cNvSpPr>
            <a:spLocks noGrp="1"/>
          </p:cNvSpPr>
          <p:nvPr>
            <p:ph idx="1"/>
          </p:nvPr>
        </p:nvSpPr>
        <p:spPr/>
        <p:txBody>
          <a:bodyPr/>
          <a:lstStyle/>
          <a:p>
            <a:r>
              <a:t>This is to certify that the project entitled 'Warehouse Management System' submitted by Imran Ahmad and Md Kaif is a bonafide record of work done under the supervision of Mr. Nishant Singh, Assistant Professor, CSE Department.</a:t>
            </a:r>
          </a:p>
          <a:p/>
          <a:p>
            <a:r>
              <a:t>Guide:</a:t>
            </a:r>
          </a:p>
          <a:p>
            <a:r>
              <a:t>Mr. Nishant Singh</a:t>
            </a:r>
          </a:p>
          <a:p/>
          <a:p>
            <a:r>
              <a:t>HOD (CSE):</a:t>
            </a:r>
          </a:p>
          <a:p>
            <a:r>
              <a:t>Mr. Vipin Verma</a:t>
            </a:r>
          </a:p>
          <a:p/>
          <a:p>
            <a:r>
              <a:t>Principal:</a:t>
            </a:r>
          </a:p>
          <a:p>
            <a:r>
              <a:t>All Saints' College of Technology, Bhopal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APPROVAL CERTIFICATE</a:t>
            </a:r>
          </a:p>
        </p:txBody>
      </p:sp>
      <p:sp>
        <p:nvSpPr>
          <p:cNvPr id="3" name="Content Placeholder 2"/>
          <p:cNvSpPr>
            <a:spLocks noGrp="1"/>
          </p:cNvSpPr>
          <p:nvPr>
            <p:ph idx="1"/>
          </p:nvPr>
        </p:nvSpPr>
        <p:spPr/>
        <p:txBody>
          <a:bodyPr/>
          <a:lstStyle/>
          <a:p>
            <a:r>
              <a:t>The project titled 'Warehouse Management System' submitted by Imran Ahmad and Md Kaif is hereby approved for partial fulfillment of the B.Tech. degree requirements.</a:t>
            </a:r>
          </a:p>
          <a:p/>
          <a:p>
            <a:r>
              <a:t>Internal Examiner: ______________________</a:t>
            </a:r>
          </a:p>
          <a:p>
            <a:r>
              <a:t>External Examiner: ______________________</a:t>
            </a:r>
          </a:p>
          <a:p>
            <a:r>
              <a:t>HOD (CSE): Mr. Vipin Verma</a:t>
            </a:r>
          </a:p>
          <a:p>
            <a:r>
              <a:t>Principal: All Saints' College of Technology, Bhopal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DECLARATION</a:t>
            </a:r>
          </a:p>
        </p:txBody>
      </p:sp>
      <p:sp>
        <p:nvSpPr>
          <p:cNvPr id="3" name="Content Placeholder 2"/>
          <p:cNvSpPr>
            <a:spLocks noGrp="1"/>
          </p:cNvSpPr>
          <p:nvPr>
            <p:ph idx="1"/>
          </p:nvPr>
        </p:nvSpPr>
        <p:spPr/>
        <p:txBody>
          <a:bodyPr/>
          <a:lstStyle/>
          <a:p>
            <a:r>
              <a:t>We hereby declare that this project titled 'Warehouse Management System' is an original work carried out by us under the guidance of Mr. Nishant Singh, Assistant Professor, CSE Department. This work has not been submitted elsewhere.</a:t>
            </a:r>
          </a:p>
          <a:p/>
          <a:p>
            <a:r>
              <a:t>IMRAN AHMAD</a:t>
            </a:r>
          </a:p>
          <a:p>
            <a:r>
              <a:t>MD KAIF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ACKNOWLEDGEMENT</a:t>
            </a:r>
          </a:p>
        </p:txBody>
      </p:sp>
      <p:sp>
        <p:nvSpPr>
          <p:cNvPr id="3" name="Content Placeholder 2"/>
          <p:cNvSpPr>
            <a:spLocks noGrp="1"/>
          </p:cNvSpPr>
          <p:nvPr>
            <p:ph idx="1"/>
          </p:nvPr>
        </p:nvSpPr>
        <p:spPr/>
        <p:txBody>
          <a:bodyPr/>
          <a:lstStyle/>
          <a:p>
            <a:r>
              <a:t>We sincerely thank our guide, Mr. Nishant Singh, for his guidance and motivation.</a:t>
            </a:r>
          </a:p>
          <a:p>
            <a:r>
              <a:t>We also thank Mr. Vipin Verma (HOD, CSE) for providing departmental support.</a:t>
            </a:r>
          </a:p>
          <a:p>
            <a:r>
              <a:t>We thank faculty members, friends, and families for their constant support.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TABLE OF CONTENTS</a:t>
            </a:r>
          </a:p>
        </p:txBody>
      </p:sp>
      <p:sp>
        <p:nvSpPr>
          <p:cNvPr id="3" name="Content Placeholder 2"/>
          <p:cNvSpPr>
            <a:spLocks noGrp="1"/>
          </p:cNvSpPr>
          <p:nvPr>
            <p:ph idx="1"/>
          </p:nvPr>
        </p:nvSpPr>
        <p:spPr/>
        <p:txBody>
          <a:bodyPr/>
          <a:lstStyle/>
          <a:p>
            <a:r>
              <a:t>1. Abstract</a:t>
            </a:r>
          </a:p>
          <a:p>
            <a:r>
              <a:t>2. Introduction</a:t>
            </a:r>
          </a:p>
          <a:p>
            <a:r>
              <a:t>3. Problem Definition</a:t>
            </a:r>
          </a:p>
          <a:p>
            <a:r>
              <a:t>4. Objectives</a:t>
            </a:r>
          </a:p>
          <a:p>
            <a:r>
              <a:t>5. Scope</a:t>
            </a:r>
          </a:p>
          <a:p>
            <a:r>
              <a:t>6. Methodology</a:t>
            </a:r>
          </a:p>
          <a:p>
            <a:r>
              <a:t>7. Requirement Analysis</a:t>
            </a:r>
          </a:p>
          <a:p>
            <a:r>
              <a:t>8. Functional Requirements</a:t>
            </a:r>
          </a:p>
          <a:p>
            <a:r>
              <a:t>9. Non-Functional Requirements</a:t>
            </a:r>
          </a:p>
          <a:p>
            <a:r>
              <a:t>10. Hardware Requirements</a:t>
            </a:r>
          </a:p>
          <a:p>
            <a:r>
              <a:t>11. Software Requirements</a:t>
            </a:r>
          </a:p>
          <a:p>
            <a:r>
              <a:t>12. System Architecture</a:t>
            </a:r>
          </a:p>
          <a:p>
            <a:r>
              <a:t>13. Use Case Diagram</a:t>
            </a:r>
          </a:p>
          <a:p>
            <a:r>
              <a:t>14. ER Diagram</a:t>
            </a:r>
          </a:p>
          <a:p>
            <a:r>
              <a:t>15. Module Descriptions</a:t>
            </a:r>
          </a:p>
          <a:p>
            <a:r>
              <a:t>16. Implementation</a:t>
            </a:r>
          </a:p>
          <a:p>
            <a:r>
              <a:t>17. Testing</a:t>
            </a:r>
          </a:p>
          <a:p>
            <a:r>
              <a:t>18. Output Screens</a:t>
            </a:r>
          </a:p>
          <a:p>
            <a:r>
              <a:t>19. Conclusion</a:t>
            </a:r>
          </a:p>
          <a:p>
            <a:r>
              <a:t>20. Future Scope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lstStyle/>
          <a:p>
            <a:r>
              <a:t>The Warehouse Management System (WMS) automates warehouse processes such as UOM, User, Item, GRN, Shipping, and Inventory to improve efficiency and accuracy.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A Warehouse Management System is used to manage goods, stock operations, tracking, and logistics. It improves accuracy and reduces manual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Definition</a:t>
            </a:r>
          </a:p>
        </p:txBody>
      </p:sp>
      <p:sp>
        <p:nvSpPr>
          <p:cNvPr id="3" name="Content Placeholder 2"/>
          <p:cNvSpPr>
            <a:spLocks noGrp="1"/>
          </p:cNvSpPr>
          <p:nvPr>
            <p:ph idx="1"/>
          </p:nvPr>
        </p:nvSpPr>
        <p:spPr/>
        <p:txBody>
          <a:bodyPr/>
          <a:lstStyle/>
          <a:p>
            <a:r>
              <a:t>Manual warehouse systems suffer from errors, delays, difficulty in tracking goods, and no real-time monitoring.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r>
              <a:t>• Automate warehouse tasks</a:t>
            </a:r>
          </a:p>
          <a:p>
            <a:r>
              <a:t>• Improve accuracy</a:t>
            </a:r>
          </a:p>
          <a:p>
            <a:r>
              <a:t>• Reduce errors</a:t>
            </a:r>
          </a:p>
          <a:p>
            <a:r>
              <a:t>• Make warehouse processes digital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Scope</a:t>
            </a:r>
          </a:p>
        </p:txBody>
      </p:sp>
      <p:sp>
        <p:nvSpPr>
          <p:cNvPr id="3" name="Content Placeholder 2"/>
          <p:cNvSpPr>
            <a:spLocks noGrp="1"/>
          </p:cNvSpPr>
          <p:nvPr>
            <p:ph idx="1"/>
          </p:nvPr>
        </p:nvSpPr>
        <p:spPr/>
        <p:txBody>
          <a:bodyPr/>
          <a:lstStyle/>
          <a:p>
            <a:r>
              <a:t>Includes UOM, WH User, Items, Orders, GRN, Shipping, and Inventory modules.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r>
              <a:t>Requirement analysis → System design → Development → Testing → Deployment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Requirement Analysis</a:t>
            </a:r>
          </a:p>
        </p:txBody>
      </p:sp>
      <p:sp>
        <p:nvSpPr>
          <p:cNvPr id="3" name="Content Placeholder 2"/>
          <p:cNvSpPr>
            <a:spLocks noGrp="1"/>
          </p:cNvSpPr>
          <p:nvPr>
            <p:ph idx="1"/>
          </p:nvPr>
        </p:nvSpPr>
        <p:spPr/>
        <p:txBody>
          <a:bodyPr/>
          <a:lstStyle/>
          <a:p>
            <a:r>
              <a:t>Analysis of user needs, data flow, functional and non-functional requirements.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Functional Requirements</a:t>
            </a:r>
          </a:p>
        </p:txBody>
      </p:sp>
      <p:sp>
        <p:nvSpPr>
          <p:cNvPr id="3" name="Content Placeholder 2"/>
          <p:cNvSpPr>
            <a:spLocks noGrp="1"/>
          </p:cNvSpPr>
          <p:nvPr>
            <p:ph idx="1"/>
          </p:nvPr>
        </p:nvSpPr>
        <p:spPr/>
        <p:txBody>
          <a:bodyPr/>
          <a:lstStyle/>
          <a:p>
            <a:r>
              <a:t>UOM management, User registration, Item creation, GRN creation, Shipping entry, Inventory updates.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Non-Functional Requirements</a:t>
            </a:r>
          </a:p>
        </p:txBody>
      </p:sp>
      <p:sp>
        <p:nvSpPr>
          <p:cNvPr id="3" name="Content Placeholder 2"/>
          <p:cNvSpPr>
            <a:spLocks noGrp="1"/>
          </p:cNvSpPr>
          <p:nvPr>
            <p:ph idx="1"/>
          </p:nvPr>
        </p:nvSpPr>
        <p:spPr/>
        <p:txBody>
          <a:bodyPr/>
          <a:lstStyle/>
          <a:p>
            <a:r>
              <a:t>High performance, security, usability, reliability, scalability.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Hardware Requirements</a:t>
            </a:r>
          </a:p>
        </p:txBody>
      </p:sp>
      <p:sp>
        <p:nvSpPr>
          <p:cNvPr id="3" name="Content Placeholder 2"/>
          <p:cNvSpPr>
            <a:spLocks noGrp="1"/>
          </p:cNvSpPr>
          <p:nvPr>
            <p:ph idx="1"/>
          </p:nvPr>
        </p:nvSpPr>
        <p:spPr/>
        <p:txBody>
          <a:bodyPr/>
          <a:lstStyle/>
          <a:p>
            <a:r>
              <a:t>Processor i3 or above, RAM 4GB+, HDD 500MB, Windows/Linux 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Software Requirements</a:t>
            </a:r>
          </a:p>
        </p:txBody>
      </p:sp>
      <p:sp>
        <p:nvSpPr>
          <p:cNvPr id="3" name="Content Placeholder 2"/>
          <p:cNvSpPr>
            <a:spLocks noGrp="1"/>
          </p:cNvSpPr>
          <p:nvPr>
            <p:ph idx="1"/>
          </p:nvPr>
        </p:nvSpPr>
        <p:spPr/>
        <p:txBody>
          <a:bodyPr/>
          <a:lstStyle/>
          <a:p>
            <a:r>
              <a:t>Java, JSP/Servlet, MySQL, Tomcat, HTML/CSS/JS, JDBC, Eclipse IDE.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r>
              <a:t>Follows a 3-tier architecture: Presentation Layer, Business Logic Layer, Data Layer.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Case Diagram</a:t>
            </a:r>
          </a:p>
        </p:txBody>
      </p:sp>
      <p:sp>
        <p:nvSpPr>
          <p:cNvPr id="3" name="Content Placeholder 2"/>
          <p:cNvSpPr>
            <a:spLocks noGrp="1"/>
          </p:cNvSpPr>
          <p:nvPr>
            <p:ph idx="1"/>
          </p:nvPr>
        </p:nvSpPr>
        <p:spPr/>
        <p:txBody>
          <a:bodyPr/>
          <a:lstStyle/>
          <a:p>
            <a:r>
              <a:t>Depicts interactions between Admin/Users and system operations such as Add UOM, Add User, GRN, Shipping.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 Diagram</a:t>
            </a:r>
          </a:p>
        </p:txBody>
      </p:sp>
      <p:sp>
        <p:nvSpPr>
          <p:cNvPr id="3" name="Content Placeholder 2"/>
          <p:cNvSpPr>
            <a:spLocks noGrp="1"/>
          </p:cNvSpPr>
          <p:nvPr>
            <p:ph idx="1"/>
          </p:nvPr>
        </p:nvSpPr>
        <p:spPr/>
        <p:txBody>
          <a:bodyPr/>
          <a:lstStyle/>
          <a:p>
            <a:r>
              <a:t>Represents the relationships among UOM, Users, Items, GRN, Shipping, Inventory tables.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Descriptions</a:t>
            </a:r>
          </a:p>
        </p:txBody>
      </p:sp>
      <p:sp>
        <p:nvSpPr>
          <p:cNvPr id="3" name="Content Placeholder 2"/>
          <p:cNvSpPr>
            <a:spLocks noGrp="1"/>
          </p:cNvSpPr>
          <p:nvPr>
            <p:ph idx="1"/>
          </p:nvPr>
        </p:nvSpPr>
        <p:spPr/>
        <p:txBody>
          <a:bodyPr/>
          <a:lstStyle/>
          <a:p>
            <a:r>
              <a:t>• UOM Module</a:t>
            </a:r>
          </a:p>
          <a:p>
            <a:r>
              <a:t>• WH User Module</a:t>
            </a:r>
          </a:p>
          <a:p>
            <a:r>
              <a:t>• Item Module</a:t>
            </a:r>
          </a:p>
          <a:p>
            <a:r>
              <a:t>• GRN Module</a:t>
            </a:r>
          </a:p>
          <a:p>
            <a:r>
              <a:t>• Shipping Module</a:t>
            </a:r>
          </a:p>
          <a:p>
            <a:r>
              <a:t>• Inventory Module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a:t>
            </a:r>
          </a:p>
        </p:txBody>
      </p:sp>
      <p:sp>
        <p:nvSpPr>
          <p:cNvPr id="3" name="Content Placeholder 2"/>
          <p:cNvSpPr>
            <a:spLocks noGrp="1"/>
          </p:cNvSpPr>
          <p:nvPr>
            <p:ph idx="1"/>
          </p:nvPr>
        </p:nvSpPr>
        <p:spPr/>
        <p:txBody>
          <a:bodyPr/>
          <a:lstStyle/>
          <a:p>
            <a:r>
              <a:t>Implemented using JSP/Servlet backend, MySQL database, HTML/CSS frontend, MVC pattern.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a:t>
            </a:r>
          </a:p>
        </p:txBody>
      </p:sp>
      <p:sp>
        <p:nvSpPr>
          <p:cNvPr id="3" name="Content Placeholder 2"/>
          <p:cNvSpPr>
            <a:spLocks noGrp="1"/>
          </p:cNvSpPr>
          <p:nvPr>
            <p:ph idx="1"/>
          </p:nvPr>
        </p:nvSpPr>
        <p:spPr/>
        <p:txBody>
          <a:bodyPr/>
          <a:lstStyle/>
          <a:p>
            <a:r>
              <a:t>• Unit Testing</a:t>
            </a:r>
          </a:p>
          <a:p>
            <a:r>
              <a:t>• Integration Testing</a:t>
            </a:r>
          </a:p>
          <a:p>
            <a:r>
              <a:t>• System Testing</a:t>
            </a:r>
          </a:p>
          <a:p>
            <a:r>
              <a:t>• Validation Testing</a:t>
            </a:r>
          </a:p>
          <a:p>
            <a:r>
              <a:t>• User Acceptance Testing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Output Screens</a:t>
            </a:r>
          </a:p>
        </p:txBody>
      </p:sp>
      <p:sp>
        <p:nvSpPr>
          <p:cNvPr id="3" name="Content Placeholder 2"/>
          <p:cNvSpPr>
            <a:spLocks noGrp="1"/>
          </p:cNvSpPr>
          <p:nvPr>
            <p:ph idx="1"/>
          </p:nvPr>
        </p:nvSpPr>
        <p:spPr/>
        <p:txBody>
          <a:bodyPr/>
          <a:lstStyle/>
          <a:p>
            <a:r>
              <a:t>This section contains screenshots of all modules: UOM, WH User, GRN, Shipping, Inventory.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WMS improves warehouse efficiency, accuracy, and digital workflow.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Scope</a:t>
            </a:r>
          </a:p>
        </p:txBody>
      </p:sp>
      <p:sp>
        <p:nvSpPr>
          <p:cNvPr id="3" name="Content Placeholder 2"/>
          <p:cNvSpPr>
            <a:spLocks noGrp="1"/>
          </p:cNvSpPr>
          <p:nvPr>
            <p:ph idx="1"/>
          </p:nvPr>
        </p:nvSpPr>
        <p:spPr/>
        <p:txBody>
          <a:bodyPr/>
          <a:lstStyle/>
          <a:p>
            <a:r>
              <a:t>• Barcode integration</a:t>
            </a:r>
          </a:p>
          <a:p>
            <a:r>
              <a:t>• Mobile app</a:t>
            </a:r>
          </a:p>
          <a:p>
            <a:r>
              <a:t>• Real-time alerts</a:t>
            </a:r>
          </a:p>
          <a:p>
            <a:r>
              <a:t>• AI-based forecasting</a:t>
            </a:r>
          </a:p>
          <a:p>
            <a:r>
              <a:t>• Cloud deployment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Inventory Management</a:t>
            </a:r>
          </a:p>
        </p:txBody>
      </p:sp>
      <p:sp>
        <p:nvSpPr>
          <p:cNvPr id="3" name="Content Placeholder 2"/>
          <p:cNvSpPr>
            <a:spLocks noGrp="1"/>
          </p:cNvSpPr>
          <p:nvPr>
            <p:ph idx="1"/>
          </p:nvPr>
        </p:nvSpPr>
        <p:spPr/>
        <p:txBody>
          <a:bodyPr/>
          <a:lstStyle/>
          <a:p>
            <a:r>
              <a:t>The system updates inventory automatically whenever GRN or shipping operations occur.</a:t>
            </a:r>
          </a:p>
          <a:p>
            <a:r>
              <a:t>It maintains accurate stock levels and prevents mismatch between physical and recorded inventory.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Flow Diagram</a:t>
            </a:r>
          </a:p>
        </p:txBody>
      </p:sp>
      <p:sp>
        <p:nvSpPr>
          <p:cNvPr id="3" name="Content Placeholder 2"/>
          <p:cNvSpPr>
            <a:spLocks noGrp="1"/>
          </p:cNvSpPr>
          <p:nvPr>
            <p:ph idx="1"/>
          </p:nvPr>
        </p:nvSpPr>
        <p:spPr/>
        <p:txBody>
          <a:bodyPr/>
          <a:lstStyle/>
          <a:p>
            <a:r>
              <a:t>The DFD illustrates movement of data between modules such as UOM, User, Item, GRN, Shipping, and Inventory.</a:t>
            </a:r>
          </a:p>
          <a:p>
            <a:r>
              <a:t>It helps understand how information flows through the WMS system.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Workflow</a:t>
            </a:r>
          </a:p>
        </p:txBody>
      </p:sp>
      <p:sp>
        <p:nvSpPr>
          <p:cNvPr id="3" name="Content Placeholder 2"/>
          <p:cNvSpPr>
            <a:spLocks noGrp="1"/>
          </p:cNvSpPr>
          <p:nvPr>
            <p:ph idx="1"/>
          </p:nvPr>
        </p:nvSpPr>
        <p:spPr/>
        <p:txBody>
          <a:bodyPr/>
          <a:lstStyle/>
          <a:p>
            <a:r>
              <a:t>1. Admin registers UOM, Users, Items.</a:t>
            </a:r>
          </a:p>
          <a:p>
            <a:r>
              <a:t>2. Purchase order is created.</a:t>
            </a:r>
          </a:p>
          <a:p>
            <a:r>
              <a:t>3. GRN updates warehouse stock.</a:t>
            </a:r>
          </a:p>
          <a:p>
            <a:r>
              <a:t>4. Sale order dispatch updates stock again.</a:t>
            </a:r>
          </a:p>
          <a:p>
            <a:r>
              <a:t>5. System generates reports for management.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Details</a:t>
            </a:r>
          </a:p>
        </p:txBody>
      </p:sp>
      <p:sp>
        <p:nvSpPr>
          <p:cNvPr id="3" name="Content Placeholder 2"/>
          <p:cNvSpPr>
            <a:spLocks noGrp="1"/>
          </p:cNvSpPr>
          <p:nvPr>
            <p:ph idx="1"/>
          </p:nvPr>
        </p:nvSpPr>
        <p:spPr/>
        <p:txBody>
          <a:bodyPr/>
          <a:lstStyle/>
          <a:p>
            <a:r>
              <a:t>The database uses normalized tables: UOM, USER, ITEM, PO, GRN, SHIPPING, INVENTORY.</a:t>
            </a:r>
          </a:p>
          <a:p>
            <a:r>
              <a:t>Primary and foreign keys maintain relationships ensuring integrity.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Features Summary</a:t>
            </a:r>
          </a:p>
        </p:txBody>
      </p:sp>
      <p:sp>
        <p:nvSpPr>
          <p:cNvPr id="3" name="Content Placeholder 2"/>
          <p:cNvSpPr>
            <a:spLocks noGrp="1"/>
          </p:cNvSpPr>
          <p:nvPr>
            <p:ph idx="1"/>
          </p:nvPr>
        </p:nvSpPr>
        <p:spPr/>
        <p:txBody>
          <a:bodyPr/>
          <a:lstStyle/>
          <a:p>
            <a:r>
              <a:t>• Automated GRN + Shipping workflow</a:t>
            </a:r>
          </a:p>
          <a:p>
            <a:r>
              <a:t>• Accurate real-time inventory</a:t>
            </a:r>
          </a:p>
          <a:p>
            <a:r>
              <a:t>• Secure authentication</a:t>
            </a:r>
          </a:p>
          <a:p>
            <a:r>
              <a:t>• Structured modular system</a:t>
            </a:r>
          </a:p>
          <a:p>
            <a:r>
              <a:t>• Clean interface with export options</a:t>
            </a:r>
          </a:p>
          <a:p>
            <a:r>
              <a:t>• Reliable data management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Screenshot 1</a:t>
            </a:r>
          </a:p>
        </p:txBody>
      </p:sp>
      <p:pic>
        <p:nvPicPr>
          <p:cNvPr id="3" name="Picture 2" descr="84e11a9e-2ca6-4bc0-a235-df31c7564c29.png"/>
          <p:cNvPicPr>
            <a:picLocks noChangeAspect="1"/>
          </p:cNvPicPr>
          <p:nvPr/>
        </p:nvPicPr>
        <p:blipFill>
          <a:blip r:embed="rId2"/>
          <a:stretch>
            <a:fillRect/>
          </a:stretch>
        </p:blipFill>
        <p:spPr>
          <a:xfrm>
            <a:off x="914400" y="1188720"/>
            <a:ext cx="6400800" cy="5352553"/>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Screenshot 2</a:t>
            </a:r>
          </a:p>
        </p:txBody>
      </p:sp>
      <p:pic>
        <p:nvPicPr>
          <p:cNvPr id="3" name="Picture 2" descr="84e11a9e-2ca6-4bc0-a235-df31c7564c29.png"/>
          <p:cNvPicPr>
            <a:picLocks noChangeAspect="1"/>
          </p:cNvPicPr>
          <p:nvPr/>
        </p:nvPicPr>
        <p:blipFill>
          <a:blip r:embed="rId2"/>
          <a:stretch>
            <a:fillRect/>
          </a:stretch>
        </p:blipFill>
        <p:spPr>
          <a:xfrm>
            <a:off x="914400" y="1188720"/>
            <a:ext cx="6400800" cy="5352553"/>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Screenshot 3</a:t>
            </a:r>
          </a:p>
        </p:txBody>
      </p:sp>
      <p:pic>
        <p:nvPicPr>
          <p:cNvPr id="3" name="Picture 2" descr="0c86b1ca-7703-4651-af2b-cdd1605f8af3.png"/>
          <p:cNvPicPr>
            <a:picLocks noChangeAspect="1"/>
          </p:cNvPicPr>
          <p:nvPr/>
        </p:nvPicPr>
        <p:blipFill>
          <a:blip r:embed="rId2"/>
          <a:stretch>
            <a:fillRect/>
          </a:stretch>
        </p:blipFill>
        <p:spPr>
          <a:xfrm>
            <a:off x="914400" y="1188720"/>
            <a:ext cx="6400800" cy="823350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Screenshot 4</a:t>
            </a:r>
          </a:p>
        </p:txBody>
      </p:sp>
      <p:pic>
        <p:nvPicPr>
          <p:cNvPr id="3" name="Picture 2" descr="6e26eb11-c54d-4e4e-82dd-ebff5e2782ce.png"/>
          <p:cNvPicPr>
            <a:picLocks noChangeAspect="1"/>
          </p:cNvPicPr>
          <p:nvPr/>
        </p:nvPicPr>
        <p:blipFill>
          <a:blip r:embed="rId2"/>
          <a:stretch>
            <a:fillRect/>
          </a:stretch>
        </p:blipFill>
        <p:spPr>
          <a:xfrm>
            <a:off x="914400" y="1188720"/>
            <a:ext cx="6400800" cy="3989007"/>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Screenshot 5</a:t>
            </a:r>
          </a:p>
        </p:txBody>
      </p:sp>
      <p:pic>
        <p:nvPicPr>
          <p:cNvPr id="3" name="Picture 2" descr="5017fbdd-bfb6-4c44-8ba6-e5b97a13c9e4.png"/>
          <p:cNvPicPr>
            <a:picLocks noChangeAspect="1"/>
          </p:cNvPicPr>
          <p:nvPr/>
        </p:nvPicPr>
        <p:blipFill>
          <a:blip r:embed="rId2"/>
          <a:stretch>
            <a:fillRect/>
          </a:stretch>
        </p:blipFill>
        <p:spPr>
          <a:xfrm>
            <a:off x="914400" y="1188720"/>
            <a:ext cx="6400800" cy="261721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Screenshot 6</a:t>
            </a:r>
          </a:p>
        </p:txBody>
      </p:sp>
      <p:pic>
        <p:nvPicPr>
          <p:cNvPr id="3" name="Picture 2" descr="bbbd7056-478e-4994-b412-4fd29c34c48c.png"/>
          <p:cNvPicPr>
            <a:picLocks noChangeAspect="1"/>
          </p:cNvPicPr>
          <p:nvPr/>
        </p:nvPicPr>
        <p:blipFill>
          <a:blip r:embed="rId2"/>
          <a:stretch>
            <a:fillRect/>
          </a:stretch>
        </p:blipFill>
        <p:spPr>
          <a:xfrm>
            <a:off x="914400" y="1188720"/>
            <a:ext cx="6400800" cy="1065533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Screenshot 7</a:t>
            </a:r>
          </a:p>
        </p:txBody>
      </p:sp>
      <p:pic>
        <p:nvPicPr>
          <p:cNvPr id="3" name="Picture 2" descr="8ff5c3d0-b9e6-4621-a1f7-a4a5e6f3a2ac.png"/>
          <p:cNvPicPr>
            <a:picLocks noChangeAspect="1"/>
          </p:cNvPicPr>
          <p:nvPr/>
        </p:nvPicPr>
        <p:blipFill>
          <a:blip r:embed="rId2"/>
          <a:stretch>
            <a:fillRect/>
          </a:stretch>
        </p:blipFill>
        <p:spPr>
          <a:xfrm>
            <a:off x="914400" y="1188720"/>
            <a:ext cx="6400800" cy="7698259"/>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Screenshot 8</a:t>
            </a:r>
          </a:p>
        </p:txBody>
      </p:sp>
      <p:pic>
        <p:nvPicPr>
          <p:cNvPr id="3" name="Picture 2" descr="14c402c2-3b51-4152-91d7-566031b6606f.png"/>
          <p:cNvPicPr>
            <a:picLocks noChangeAspect="1"/>
          </p:cNvPicPr>
          <p:nvPr/>
        </p:nvPicPr>
        <p:blipFill>
          <a:blip r:embed="rId2"/>
          <a:stretch>
            <a:fillRect/>
          </a:stretch>
        </p:blipFill>
        <p:spPr>
          <a:xfrm>
            <a:off x="914400" y="1188720"/>
            <a:ext cx="6400800" cy="2185775"/>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Screenshot 9</a:t>
            </a:r>
          </a:p>
        </p:txBody>
      </p:sp>
      <p:pic>
        <p:nvPicPr>
          <p:cNvPr id="3" name="Picture 2" descr="d78a871f-5d42-46e4-8e68-110ae83f300c.png"/>
          <p:cNvPicPr>
            <a:picLocks noChangeAspect="1"/>
          </p:cNvPicPr>
          <p:nvPr/>
        </p:nvPicPr>
        <p:blipFill>
          <a:blip r:embed="rId2"/>
          <a:stretch>
            <a:fillRect/>
          </a:stretch>
        </p:blipFill>
        <p:spPr>
          <a:xfrm>
            <a:off x="914400" y="1188720"/>
            <a:ext cx="6400800" cy="3247465"/>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Inventory Management</a:t>
            </a:r>
          </a:p>
        </p:txBody>
      </p:sp>
      <p:sp>
        <p:nvSpPr>
          <p:cNvPr id="3" name="Content Placeholder 2"/>
          <p:cNvSpPr>
            <a:spLocks noGrp="1"/>
          </p:cNvSpPr>
          <p:nvPr>
            <p:ph idx="1"/>
          </p:nvPr>
        </p:nvSpPr>
        <p:spPr/>
        <p:txBody>
          <a:bodyPr/>
          <a:lstStyle/>
          <a:p>
            <a:r>
              <a:t>The system automatically updates inventory whenever GRN is created or shipping is executed.</a:t>
            </a:r>
          </a:p>
          <a:p>
            <a:r>
              <a:t>It ensures stock accuracy and prevents mismatch between physical and digital records.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Flow Diagram</a:t>
            </a:r>
          </a:p>
        </p:txBody>
      </p:sp>
      <p:sp>
        <p:nvSpPr>
          <p:cNvPr id="3" name="Content Placeholder 2"/>
          <p:cNvSpPr>
            <a:spLocks noGrp="1"/>
          </p:cNvSpPr>
          <p:nvPr>
            <p:ph idx="1"/>
          </p:nvPr>
        </p:nvSpPr>
        <p:spPr/>
        <p:txBody>
          <a:bodyPr/>
          <a:lstStyle/>
          <a:p>
            <a:r>
              <a:t>DFD illustrates how data flows between modules like UOM, User, GRN, Shipping, and Inventory.</a:t>
            </a:r>
          </a:p>
          <a:p>
            <a:r>
              <a:t>It helps visualize how information moves inside the WMS application.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Workflow</a:t>
            </a:r>
          </a:p>
        </p:txBody>
      </p:sp>
      <p:sp>
        <p:nvSpPr>
          <p:cNvPr id="3" name="Content Placeholder 2"/>
          <p:cNvSpPr>
            <a:spLocks noGrp="1"/>
          </p:cNvSpPr>
          <p:nvPr>
            <p:ph idx="1"/>
          </p:nvPr>
        </p:nvSpPr>
        <p:spPr/>
        <p:txBody>
          <a:bodyPr/>
          <a:lstStyle/>
          <a:p>
            <a:r>
              <a:t>1. Admin registers UOM, users, and items.</a:t>
            </a:r>
          </a:p>
          <a:p>
            <a:r>
              <a:t>2. Purchase order is generated.</a:t>
            </a:r>
          </a:p>
          <a:p>
            <a:r>
              <a:t>3. GRN updates stock.</a:t>
            </a:r>
          </a:p>
          <a:p>
            <a:r>
              <a:t>4. Sale order dispatch updates inventory again.</a:t>
            </a:r>
          </a:p>
          <a:p>
            <a:r>
              <a:t>5. Reports provide insights into warehouse performance.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Details</a:t>
            </a:r>
          </a:p>
        </p:txBody>
      </p:sp>
      <p:sp>
        <p:nvSpPr>
          <p:cNvPr id="3" name="Content Placeholder 2"/>
          <p:cNvSpPr>
            <a:spLocks noGrp="1"/>
          </p:cNvSpPr>
          <p:nvPr>
            <p:ph idx="1"/>
          </p:nvPr>
        </p:nvSpPr>
        <p:spPr/>
        <p:txBody>
          <a:bodyPr/>
          <a:lstStyle/>
          <a:p>
            <a:r>
              <a:t>The database consists of normalized tables such as UOM, USERS, ITEM, GRN, SHIPPING, and INVENTORY.</a:t>
            </a:r>
          </a:p>
          <a:p>
            <a:r>
              <a:t>Primary and foreign keys maintain relational integrity within tables.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Features Summary</a:t>
            </a:r>
          </a:p>
        </p:txBody>
      </p:sp>
      <p:sp>
        <p:nvSpPr>
          <p:cNvPr id="3" name="Content Placeholder 2"/>
          <p:cNvSpPr>
            <a:spLocks noGrp="1"/>
          </p:cNvSpPr>
          <p:nvPr>
            <p:ph idx="1"/>
          </p:nvPr>
        </p:nvSpPr>
        <p:spPr/>
        <p:txBody>
          <a:bodyPr/>
          <a:lstStyle/>
          <a:p>
            <a:r>
              <a:t>• Automated GRN &amp; Shipping</a:t>
            </a:r>
          </a:p>
          <a:p>
            <a:r>
              <a:t>• Real-time inventory</a:t>
            </a:r>
          </a:p>
          <a:p>
            <a:r>
              <a:t>• Secure authentication</a:t>
            </a:r>
          </a:p>
          <a:p>
            <a:r>
              <a:t>• Structured modules</a:t>
            </a:r>
          </a:p>
          <a:p>
            <a:r>
              <a:t>• User-friendly interface</a:t>
            </a:r>
          </a:p>
          <a:p>
            <a:r>
              <a:t>• Accurate reporting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Additional Explanation 6 – GRN Importance</a:t>
            </a:r>
          </a:p>
        </p:txBody>
      </p:sp>
      <p:sp>
        <p:nvSpPr>
          <p:cNvPr id="3" name="Content Placeholder 2"/>
          <p:cNvSpPr>
            <a:spLocks noGrp="1"/>
          </p:cNvSpPr>
          <p:nvPr>
            <p:ph idx="1"/>
          </p:nvPr>
        </p:nvSpPr>
        <p:spPr/>
        <p:txBody>
          <a:bodyPr/>
          <a:lstStyle/>
          <a:p>
            <a:r>
              <a:t>Goods Received Note (GRN) is a critical warehouse document verifying receipt of items.</a:t>
            </a:r>
          </a:p>
          <a:p>
            <a:r>
              <a:t>It ensures that supplier-delivered products match purchase order details and supports inventory accuracy.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Additional Explanation 7 – Shipping Workflow</a:t>
            </a:r>
          </a:p>
        </p:txBody>
      </p:sp>
      <p:sp>
        <p:nvSpPr>
          <p:cNvPr id="3" name="Content Placeholder 2"/>
          <p:cNvSpPr>
            <a:spLocks noGrp="1"/>
          </p:cNvSpPr>
          <p:nvPr>
            <p:ph idx="1"/>
          </p:nvPr>
        </p:nvSpPr>
        <p:spPr/>
        <p:txBody>
          <a:bodyPr/>
          <a:lstStyle/>
          <a:p>
            <a:r>
              <a:t>Shipping module handles sales order dispatch.</a:t>
            </a:r>
          </a:p>
          <a:p>
            <a:r>
              <a:t>It updates inventory, generates packing slips, and records outgoing goods for traceability.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Additional Explanation 8 – User Management Role</a:t>
            </a:r>
          </a:p>
        </p:txBody>
      </p:sp>
      <p:sp>
        <p:nvSpPr>
          <p:cNvPr id="3" name="Content Placeholder 2"/>
          <p:cNvSpPr>
            <a:spLocks noGrp="1"/>
          </p:cNvSpPr>
          <p:nvPr>
            <p:ph idx="1"/>
          </p:nvPr>
        </p:nvSpPr>
        <p:spPr/>
        <p:txBody>
          <a:bodyPr/>
          <a:lstStyle/>
          <a:p>
            <a:r>
              <a:t>Warehouse user module stores vendor and customer details.</a:t>
            </a:r>
          </a:p>
          <a:p>
            <a:r>
              <a:t>It plays an essential role in linking purchase and sales documents with actual business partners.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Additional Explanation 9 – Report Generation</a:t>
            </a:r>
          </a:p>
        </p:txBody>
      </p:sp>
      <p:sp>
        <p:nvSpPr>
          <p:cNvPr id="3" name="Content Placeholder 2"/>
          <p:cNvSpPr>
            <a:spLocks noGrp="1"/>
          </p:cNvSpPr>
          <p:nvPr>
            <p:ph idx="1"/>
          </p:nvPr>
        </p:nvSpPr>
        <p:spPr/>
        <p:txBody>
          <a:bodyPr/>
          <a:lstStyle/>
          <a:p>
            <a:r>
              <a:t>WMS generates structured reports such as user lists, inventory status, GRN reports, and shipping logs.</a:t>
            </a:r>
          </a:p>
          <a:p>
            <a:r>
              <a:t>Reports help in decision-making and performance monitoring.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Additional Explanation 10 – System Security</a:t>
            </a:r>
          </a:p>
        </p:txBody>
      </p:sp>
      <p:sp>
        <p:nvSpPr>
          <p:cNvPr id="3" name="Content Placeholder 2"/>
          <p:cNvSpPr>
            <a:spLocks noGrp="1"/>
          </p:cNvSpPr>
          <p:nvPr>
            <p:ph idx="1"/>
          </p:nvPr>
        </p:nvSpPr>
        <p:spPr/>
        <p:txBody>
          <a:bodyPr/>
          <a:lstStyle/>
          <a:p>
            <a:r>
              <a:t>The system uses role-based access and secure database connections.</a:t>
            </a:r>
          </a:p>
          <a:p>
            <a:r>
              <a:t>Only authorized users can access or modify core warehouse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